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exandria"/>
      <p:regular r:id="rId17"/>
    </p:embeddedFont>
    <p:embeddedFont>
      <p:font typeface="Alexandria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1" Type="http://schemas.openxmlformats.org/officeDocument/2006/relationships/hyperlink" Target="https://github.com/AnveloCZ/Academic-Collaboration-Network-SAD-2026-1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2" Type="http://schemas.openxmlformats.org/officeDocument/2006/relationships/slideLayout" Target="../slideLayouts/slideLayout11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29878"/>
            <a:ext cx="7556421" cy="372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Academic Collaboration Network: A Systems Engineering Approach to Mitigate Isolated Learning Through Skill-Based Group Optimization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947999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Gabriel Andres Beltran Varela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|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Kevin Santiago Silva Gonzalez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|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Miguel David Tarazona Correa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|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Anyelo Esteban Casas Zapata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5806321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Computer Engineering Program, Universidad Distrital Francisco José de Caldas, Bogotá, Colombia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666464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Systems Analysis &amp; Design — Semester 2026-I | Professor: Eng. Carlos Andrés Sierra, M.Sc. | March 2026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358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Agenda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24820"/>
            <a:ext cx="4215289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469719"/>
            <a:ext cx="41325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Problem Statement &amp; Limitations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898940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Current collaboration challenges in higher education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324820"/>
            <a:ext cx="4215408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34697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Methodology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3898940"/>
            <a:ext cx="42154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Research approach and analytical framework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30104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324820"/>
            <a:ext cx="4215289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3469719"/>
            <a:ext cx="42152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 Architecture &amp; Mathematical Formulation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4209098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Technical design and optimization models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488120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5195530"/>
            <a:ext cx="6422112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40429"/>
            <a:ext cx="348650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Results: Survey &amp; Simulation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5769650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Empirical findings and performance metrics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14260" y="488120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414260" y="5195530"/>
            <a:ext cx="6422231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1" name="Text 19"/>
          <p:cNvSpPr/>
          <p:nvPr/>
        </p:nvSpPr>
        <p:spPr>
          <a:xfrm>
            <a:off x="7414260" y="5340429"/>
            <a:ext cx="331339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Conclusions &amp; Future Work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414260" y="57696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achievements and research extensions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4485"/>
            <a:ext cx="826710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Problem Statement &amp; Limitations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605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Survey Findings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455069"/>
            <a:ext cx="3015615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88%</a:t>
            </a:r>
            <a:endParaRPr lang="en-US" sz="5150" dirty="0"/>
          </a:p>
        </p:txBody>
      </p:sp>
      <p:sp>
        <p:nvSpPr>
          <p:cNvPr id="5" name="Text 3"/>
          <p:cNvSpPr/>
          <p:nvPr/>
        </p:nvSpPr>
        <p:spPr>
          <a:xfrm>
            <a:off x="1061085" y="33580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WhatsApp Usage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866555"/>
            <a:ext cx="30156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Students rely exclusively on WhatsApp for group coordination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057412" y="2455069"/>
            <a:ext cx="3015734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36%</a:t>
            </a:r>
            <a:endParaRPr lang="en-US" sz="5150" dirty="0"/>
          </a:p>
        </p:txBody>
      </p:sp>
      <p:sp>
        <p:nvSpPr>
          <p:cNvPr id="8" name="Text 6"/>
          <p:cNvSpPr/>
          <p:nvPr/>
        </p:nvSpPr>
        <p:spPr>
          <a:xfrm>
            <a:off x="4112419" y="3358039"/>
            <a:ext cx="29057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Communication Barrier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057412" y="3866555"/>
            <a:ext cx="301573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Primary obstacle to effective collaboration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425541" y="5315188"/>
            <a:ext cx="3015734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96%</a:t>
            </a:r>
            <a:endParaRPr lang="en-US" sz="5150" dirty="0"/>
          </a:p>
        </p:txBody>
      </p:sp>
      <p:sp>
        <p:nvSpPr>
          <p:cNvPr id="11" name="Text 9"/>
          <p:cNvSpPr/>
          <p:nvPr/>
        </p:nvSpPr>
        <p:spPr>
          <a:xfrm>
            <a:off x="2692956" y="62181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Platform Interest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425541" y="6726674"/>
            <a:ext cx="301573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Express willingness to adopt dedicated system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1760577"/>
            <a:ext cx="308109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Systemic Limitations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564874" y="2355890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9288" y="239309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209717" y="2424113"/>
            <a:ext cx="556486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Lack of structured group formation protocols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564874" y="3199209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9288" y="323641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209717" y="3267432"/>
            <a:ext cx="55445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Skill clustering concentrates high performers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564874" y="4042529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9288" y="407973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209717" y="4110752"/>
            <a:ext cx="563451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Student isolation impedes knowledge sharing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7564874" y="512790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9288" y="516511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209717" y="5196126"/>
            <a:ext cx="560248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Inefficient knowledge exchange mechanisms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7564874" y="597122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9288" y="600843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8209717" y="6039445"/>
            <a:ext cx="469975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Absence of skill visibility across cohort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483"/>
            <a:ext cx="569761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Methodology Overview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646396"/>
            <a:ext cx="992267" cy="1190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84415" y="18447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Survey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84415" y="2273975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 questions on collaboration patterns, Google Forms, n=25 respondents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837140"/>
            <a:ext cx="992267" cy="1190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84415" y="30354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Systems Analysis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84415" y="3464719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Stakeholder identification, causal loop analysis, sensitivity evaluation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027884"/>
            <a:ext cx="992267" cy="1190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84415" y="42262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Simulation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84415" y="4655463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Synthetic profiles, normal distribution (μ=0.5, σ=0.2), 30 trials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218628"/>
            <a:ext cx="992267" cy="1190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84415" y="54169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Optimization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84415" y="5846207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Complementary variance minimization algorithm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409373"/>
            <a:ext cx="992267" cy="1190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84415" y="66077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Validation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84415" y="7036951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Metrics comparison against random and similarity-based grouping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5502"/>
            <a:ext cx="504277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 Architecture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7241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Microservices architecture enabling scalability to 500+ concurrent users with &lt;2s response times and 99.5% availability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713196"/>
            <a:ext cx="13042821" cy="722114"/>
          </a:xfrm>
          <a:prstGeom prst="roundRect">
            <a:avLst>
              <a:gd name="adj" fmla="val 11544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768" y="29191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API Gateway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8569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Core Services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4365427"/>
            <a:ext cx="6279356" cy="263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Auth &amp; Authorization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Profile Service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Matching Engine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Workspace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Notification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Analytics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Integration Gateway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38569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Layer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64874" y="4365427"/>
            <a:ext cx="62793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PostgreSQL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Redis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S3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5655231"/>
            <a:ext cx="25815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External Integrations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64874" y="6163747"/>
            <a:ext cx="6279356" cy="70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LMS (Moodle)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Library System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3069"/>
            <a:ext cx="662499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Mathematical Formulation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59161"/>
            <a:ext cx="326671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Student Profile Vector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482334"/>
            <a:ext cx="6279356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82334"/>
            <a:ext cx="6279356" cy="3469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080385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Multi-dimensional skill representation capturing learning capacity, analytical ability, programming proficiency, and hard skills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564874" y="1859161"/>
            <a:ext cx="344281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Optimization Objective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564874" y="2482334"/>
            <a:ext cx="6279356" cy="43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874" y="2482334"/>
            <a:ext cx="6279356" cy="4321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64874" y="3165634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Minimize intra-group variance while maintaining group size constraints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93790" y="4633198"/>
            <a:ext cx="308467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Group Balance Index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793790" y="5256371"/>
            <a:ext cx="6279356" cy="611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256371"/>
            <a:ext cx="6279356" cy="6113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790" y="611886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Normalized measure of skill distribution balance across all groups (0-1 scale)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564874" y="46331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Network Metrics</a:t>
            </a:r>
            <a:endParaRPr lang="en-US" sz="2300" dirty="0"/>
          </a:p>
        </p:txBody>
      </p:sp>
      <p:sp>
        <p:nvSpPr>
          <p:cNvPr id="16" name="Text 11"/>
          <p:cNvSpPr/>
          <p:nvPr/>
        </p:nvSpPr>
        <p:spPr>
          <a:xfrm>
            <a:off x="7564874" y="5256371"/>
            <a:ext cx="6279356" cy="593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874" y="5256371"/>
            <a:ext cx="6279356" cy="5932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64874" y="6100763"/>
            <a:ext cx="6279356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874" y="6100763"/>
            <a:ext cx="6279356" cy="6384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564874" y="699027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Centrality measures and network connectivity analysis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215" y="529471"/>
            <a:ext cx="4813816" cy="601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Survey Results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70215" y="1598057"/>
            <a:ext cx="4821198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Main Barriers to Group Formation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70215" y="2169200"/>
            <a:ext cx="6310074" cy="3533537"/>
          </a:xfrm>
          <a:prstGeom prst="roundRect">
            <a:avLst>
              <a:gd name="adj" fmla="val 2289"/>
            </a:avLst>
          </a:prstGeom>
          <a:solidFill>
            <a:srgbClr val="DFDF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6779" y="3743444"/>
            <a:ext cx="336828" cy="385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0215" y="5912882"/>
            <a:ext cx="6310074" cy="60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Communication breakdowns represent the primary obstacle to effective study group formation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57730" y="1598057"/>
            <a:ext cx="4706303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Adoption Likelihood Distribution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7557730" y="2169200"/>
            <a:ext cx="6310074" cy="3533537"/>
          </a:xfrm>
          <a:prstGeom prst="roundRect">
            <a:avLst>
              <a:gd name="adj" fmla="val 2289"/>
            </a:avLst>
          </a:prstGeom>
          <a:solidFill>
            <a:srgbClr val="DFDF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4294" y="3743444"/>
            <a:ext cx="336828" cy="385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57730" y="5912882"/>
            <a:ext cx="6310074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 score of 3.88/5 indicates strong adoption意愿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70215" y="6897886"/>
            <a:ext cx="13089969" cy="802600"/>
          </a:xfrm>
          <a:prstGeom prst="roundRect">
            <a:avLst>
              <a:gd name="adj" fmla="val 10076"/>
            </a:avLst>
          </a:prstGeom>
          <a:solidFill>
            <a:srgbClr val="BBCDF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39" y="7168158"/>
            <a:ext cx="240625" cy="1925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95889" y="7132796"/>
            <a:ext cx="12271772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Insight: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96% of students express interest in a dedicated platform for academic collaboration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5896" y="364331"/>
            <a:ext cx="3112770" cy="388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Simulation Results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2405896" y="909518"/>
            <a:ext cx="9818608" cy="5498306"/>
          </a:xfrm>
          <a:prstGeom prst="roundRect">
            <a:avLst>
              <a:gd name="adj" fmla="val 951"/>
            </a:avLst>
          </a:prstGeom>
          <a:solidFill>
            <a:srgbClr val="DFDFE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6258" y="3534132"/>
            <a:ext cx="217765" cy="24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405896" y="6495693"/>
            <a:ext cx="9818608" cy="1369576"/>
          </a:xfrm>
          <a:prstGeom prst="roundRect">
            <a:avLst>
              <a:gd name="adj" fmla="val 381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13516" y="6503313"/>
            <a:ext cx="9803368" cy="2708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538174" y="6557724"/>
            <a:ext cx="2688312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Metric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2947" y="6557724"/>
            <a:ext cx="199822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37634" y="6557724"/>
            <a:ext cx="199822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992320" y="6557724"/>
            <a:ext cx="2100143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Complementary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13516" y="6774180"/>
            <a:ext cx="9803368" cy="2708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538174" y="6828592"/>
            <a:ext cx="2688312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Skill Variance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2947" y="6828592"/>
            <a:ext cx="199822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0.142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37634" y="6828592"/>
            <a:ext cx="199822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0.089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992320" y="6828592"/>
            <a:ext cx="2100143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0.041 ↓71%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413516" y="7045047"/>
            <a:ext cx="9803368" cy="2708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538174" y="7099459"/>
            <a:ext cx="2688312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Network Density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82947" y="7099459"/>
            <a:ext cx="199822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0.23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737634" y="7099459"/>
            <a:ext cx="199822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0.31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992320" y="7099459"/>
            <a:ext cx="2100143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0.42 ↑83%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413516" y="7315914"/>
            <a:ext cx="9803368" cy="2708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2538174" y="7370326"/>
            <a:ext cx="2688312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Centrality Gini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2947" y="7370326"/>
            <a:ext cx="199822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0.38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737634" y="7370326"/>
            <a:ext cx="199822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0.29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992320" y="7370326"/>
            <a:ext cx="2100143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0.17 ↓55%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413516" y="7586782"/>
            <a:ext cx="9803368" cy="2708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2538174" y="7641193"/>
            <a:ext cx="2688312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GBI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2947" y="7641193"/>
            <a:ext cx="199822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0.51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37634" y="7641193"/>
            <a:ext cx="1998226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0.67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992320" y="7641193"/>
            <a:ext cx="2100143" cy="162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0.85 ↑67%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674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22840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71%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1090613" y="36258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Skill Dispersion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055031"/>
            <a:ext cx="307467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Reduction in intra-group variance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116467" y="2722840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83%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4413290" y="36258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Network Density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116467" y="4055031"/>
            <a:ext cx="307467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Improvement in connectivity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39144" y="2722840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55%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7735967" y="36258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Centrality Fairness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39144" y="4055031"/>
            <a:ext cx="307467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Enhanced equity distribution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761821" y="2722840"/>
            <a:ext cx="30747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96%</a:t>
            </a:r>
            <a:endParaRPr lang="en-US" sz="5150" dirty="0"/>
          </a:p>
        </p:txBody>
      </p:sp>
      <p:sp>
        <p:nvSpPr>
          <p:cNvPr id="13" name="Text 11"/>
          <p:cNvSpPr/>
          <p:nvPr/>
        </p:nvSpPr>
        <p:spPr>
          <a:xfrm>
            <a:off x="11058763" y="36258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Platform Interest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761821" y="4055031"/>
            <a:ext cx="30747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Validated adoption意愿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4913352"/>
            <a:ext cx="4215289" cy="722114"/>
          </a:xfrm>
          <a:prstGeom prst="roundRect">
            <a:avLst>
              <a:gd name="adj" fmla="val 11544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9768" y="5119330"/>
            <a:ext cx="28233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500+ Concurrent Users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5207437" y="4913352"/>
            <a:ext cx="4215408" cy="722114"/>
          </a:xfrm>
          <a:prstGeom prst="roundRect">
            <a:avLst>
              <a:gd name="adj" fmla="val 11544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415" y="51193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&lt;2s Response Times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621203" y="4913352"/>
            <a:ext cx="4215289" cy="722114"/>
          </a:xfrm>
          <a:prstGeom prst="roundRect">
            <a:avLst>
              <a:gd name="adj" fmla="val 11544"/>
            </a:avLst>
          </a:prstGeom>
          <a:solidFill>
            <a:srgbClr val="1B54DA"/>
          </a:solidFill>
          <a:ln w="7620">
            <a:solidFill>
              <a:srgbClr val="346D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27181" y="51193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99.5% Availability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91446" y="6081951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"The systems engineering approach effectively transforms informal collaboration into structured, measurable processes"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93790" y="5858708"/>
            <a:ext cx="22860" cy="764024"/>
          </a:xfrm>
          <a:prstGeom prst="rect">
            <a:avLst/>
          </a:prstGeom>
          <a:solidFill>
            <a:srgbClr val="1B54D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654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Future Work &amp; Q&amp;A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271117"/>
            <a:ext cx="4215289" cy="1337667"/>
          </a:xfrm>
          <a:prstGeom prst="roundRect">
            <a:avLst>
              <a:gd name="adj" fmla="val 8203"/>
            </a:avLst>
          </a:prstGeom>
          <a:solidFill>
            <a:srgbClr val="F9F9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248257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5" name="Shape 3"/>
          <p:cNvSpPr/>
          <p:nvPr/>
        </p:nvSpPr>
        <p:spPr>
          <a:xfrm>
            <a:off x="2603778" y="197346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54D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2372" y="2152055"/>
            <a:ext cx="238125" cy="238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008" y="2767251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Machine learning-based predictive grouping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5207437" y="2271117"/>
            <a:ext cx="4215408" cy="1337667"/>
          </a:xfrm>
          <a:prstGeom prst="roundRect">
            <a:avLst>
              <a:gd name="adj" fmla="val 8203"/>
            </a:avLst>
          </a:prstGeom>
          <a:solidFill>
            <a:srgbClr val="F9F9FF"/>
          </a:solidFill>
          <a:ln/>
        </p:spPr>
      </p:sp>
      <p:sp>
        <p:nvSpPr>
          <p:cNvPr id="9" name="Shape 6"/>
          <p:cNvSpPr/>
          <p:nvPr/>
        </p:nvSpPr>
        <p:spPr>
          <a:xfrm>
            <a:off x="5207437" y="2248257"/>
            <a:ext cx="4215408" cy="91440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10" name="Shape 7"/>
          <p:cNvSpPr/>
          <p:nvPr/>
        </p:nvSpPr>
        <p:spPr>
          <a:xfrm>
            <a:off x="7017425" y="197346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54D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6018" y="2152055"/>
            <a:ext cx="238125" cy="238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8655" y="2767251"/>
            <a:ext cx="377297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Dynamic reconfiguration during semester progression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9621203" y="2271117"/>
            <a:ext cx="4215289" cy="1337667"/>
          </a:xfrm>
          <a:prstGeom prst="roundRect">
            <a:avLst>
              <a:gd name="adj" fmla="val 8203"/>
            </a:avLst>
          </a:prstGeom>
          <a:solidFill>
            <a:srgbClr val="F9F9FF"/>
          </a:solidFill>
          <a:ln/>
        </p:spPr>
      </p:sp>
      <p:sp>
        <p:nvSpPr>
          <p:cNvPr id="14" name="Shape 10"/>
          <p:cNvSpPr/>
          <p:nvPr/>
        </p:nvSpPr>
        <p:spPr>
          <a:xfrm>
            <a:off x="9621203" y="2248257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15" name="Shape 11"/>
          <p:cNvSpPr/>
          <p:nvPr/>
        </p:nvSpPr>
        <p:spPr>
          <a:xfrm>
            <a:off x="11431191" y="197346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54D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9784" y="2152055"/>
            <a:ext cx="238125" cy="238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42421" y="2767251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Integration with LMS and SIA systems</a:t>
            </a:r>
            <a:endParaRPr lang="en-US" sz="1950" dirty="0"/>
          </a:p>
        </p:txBody>
      </p:sp>
      <p:sp>
        <p:nvSpPr>
          <p:cNvPr id="18" name="Shape 13"/>
          <p:cNvSpPr/>
          <p:nvPr/>
        </p:nvSpPr>
        <p:spPr>
          <a:xfrm>
            <a:off x="793790" y="4104799"/>
            <a:ext cx="6422112" cy="1027509"/>
          </a:xfrm>
          <a:prstGeom prst="roundRect">
            <a:avLst>
              <a:gd name="adj" fmla="val 10679"/>
            </a:avLst>
          </a:prstGeom>
          <a:solidFill>
            <a:srgbClr val="F9F9FF"/>
          </a:solidFill>
          <a:ln/>
        </p:spPr>
      </p:sp>
      <p:sp>
        <p:nvSpPr>
          <p:cNvPr id="19" name="Shape 14"/>
          <p:cNvSpPr/>
          <p:nvPr/>
        </p:nvSpPr>
        <p:spPr>
          <a:xfrm>
            <a:off x="793790" y="4081939"/>
            <a:ext cx="6422112" cy="91440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20" name="Shape 15"/>
          <p:cNvSpPr/>
          <p:nvPr/>
        </p:nvSpPr>
        <p:spPr>
          <a:xfrm>
            <a:off x="3707130" y="380714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54D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85724" y="3985736"/>
            <a:ext cx="238125" cy="238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15008" y="4600932"/>
            <a:ext cx="407134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Real-world pilot implementation</a:t>
            </a:r>
            <a:endParaRPr lang="en-US" sz="1950" dirty="0"/>
          </a:p>
        </p:txBody>
      </p:sp>
      <p:sp>
        <p:nvSpPr>
          <p:cNvPr id="23" name="Shape 17"/>
          <p:cNvSpPr/>
          <p:nvPr/>
        </p:nvSpPr>
        <p:spPr>
          <a:xfrm>
            <a:off x="7414260" y="4104799"/>
            <a:ext cx="6422231" cy="1027509"/>
          </a:xfrm>
          <a:prstGeom prst="roundRect">
            <a:avLst>
              <a:gd name="adj" fmla="val 10679"/>
            </a:avLst>
          </a:prstGeom>
          <a:solidFill>
            <a:srgbClr val="F9F9FF"/>
          </a:solidFill>
          <a:ln/>
        </p:spPr>
      </p:sp>
      <p:sp>
        <p:nvSpPr>
          <p:cNvPr id="24" name="Shape 18"/>
          <p:cNvSpPr/>
          <p:nvPr/>
        </p:nvSpPr>
        <p:spPr>
          <a:xfrm>
            <a:off x="7414260" y="4081939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27719" y="380714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54D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06313" y="3985736"/>
            <a:ext cx="238125" cy="238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35478" y="4600932"/>
            <a:ext cx="39121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Behavioral compatibility factors</a:t>
            </a:r>
            <a:endParaRPr lang="en-US" sz="1950" dirty="0"/>
          </a:p>
        </p:txBody>
      </p:sp>
      <p:sp>
        <p:nvSpPr>
          <p:cNvPr id="28" name="Text 21"/>
          <p:cNvSpPr/>
          <p:nvPr/>
        </p:nvSpPr>
        <p:spPr>
          <a:xfrm>
            <a:off x="793790" y="535555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Repository: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https://github.com/AnveloCZ/Academic-Collaboration-Network-SAD-2026-1</a:t>
            </a:r>
            <a:endParaRPr lang="en-US" sz="1550" dirty="0"/>
          </a:p>
        </p:txBody>
      </p:sp>
      <p:sp>
        <p:nvSpPr>
          <p:cNvPr id="29" name="Shape 22"/>
          <p:cNvSpPr/>
          <p:nvPr/>
        </p:nvSpPr>
        <p:spPr>
          <a:xfrm>
            <a:off x="793790" y="5995481"/>
            <a:ext cx="13042821" cy="32385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793790" y="6325433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Thank you</a:t>
            </a:r>
            <a:endParaRPr lang="en-US" sz="3100" dirty="0"/>
          </a:p>
        </p:txBody>
      </p:sp>
      <p:sp>
        <p:nvSpPr>
          <p:cNvPr id="31" name="Text 24"/>
          <p:cNvSpPr/>
          <p:nvPr/>
        </p:nvSpPr>
        <p:spPr>
          <a:xfrm>
            <a:off x="793790" y="69008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Questions?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2026-03-28T02:47:46Z</dcterms:created>
  <dcterms:modified xsi:type="dcterms:W3CDTF">2026-03-28T02:47:46Z</dcterms:modified>
</cp:coreProperties>
</file>